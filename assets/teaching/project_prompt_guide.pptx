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5B8B6-4A35-419C-8B18-5E6D70A3AEC1}" v="3" dt="2024-10-08T16:01:29.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stahsin Ul Aziz" userId="6f983c0f-6732-4868-b9e2-294f83e0d57b" providerId="ADAL" clId="{31E5B8B6-4A35-419C-8B18-5E6D70A3AEC1}"/>
    <pc:docChg chg="custSel addSld modSld">
      <pc:chgData name="Mustahsin Ul Aziz" userId="6f983c0f-6732-4868-b9e2-294f83e0d57b" providerId="ADAL" clId="{31E5B8B6-4A35-419C-8B18-5E6D70A3AEC1}" dt="2024-10-08T16:01:46.835" v="497" actId="20577"/>
      <pc:docMkLst>
        <pc:docMk/>
      </pc:docMkLst>
      <pc:sldChg chg="addSp modSp new mod">
        <pc:chgData name="Mustahsin Ul Aziz" userId="6f983c0f-6732-4868-b9e2-294f83e0d57b" providerId="ADAL" clId="{31E5B8B6-4A35-419C-8B18-5E6D70A3AEC1}" dt="2024-10-08T16:01:46.835" v="497" actId="20577"/>
        <pc:sldMkLst>
          <pc:docMk/>
          <pc:sldMk cId="1709123913" sldId="267"/>
        </pc:sldMkLst>
        <pc:spChg chg="mod">
          <ac:chgData name="Mustahsin Ul Aziz" userId="6f983c0f-6732-4868-b9e2-294f83e0d57b" providerId="ADAL" clId="{31E5B8B6-4A35-419C-8B18-5E6D70A3AEC1}" dt="2024-10-08T15:56:30.367" v="22" actId="20577"/>
          <ac:spMkLst>
            <pc:docMk/>
            <pc:sldMk cId="1709123913" sldId="267"/>
            <ac:spMk id="2" creationId="{E754C10F-D6E4-D632-99F3-C214D4DE3769}"/>
          </ac:spMkLst>
        </pc:spChg>
        <pc:spChg chg="mod">
          <ac:chgData name="Mustahsin Ul Aziz" userId="6f983c0f-6732-4868-b9e2-294f83e0d57b" providerId="ADAL" clId="{31E5B8B6-4A35-419C-8B18-5E6D70A3AEC1}" dt="2024-10-08T15:59:33.816" v="471" actId="27636"/>
          <ac:spMkLst>
            <pc:docMk/>
            <pc:sldMk cId="1709123913" sldId="267"/>
            <ac:spMk id="3" creationId="{FBD3693C-A911-F180-1D32-2AF0D7D73372}"/>
          </ac:spMkLst>
        </pc:spChg>
        <pc:spChg chg="add mod">
          <ac:chgData name="Mustahsin Ul Aziz" userId="6f983c0f-6732-4868-b9e2-294f83e0d57b" providerId="ADAL" clId="{31E5B8B6-4A35-419C-8B18-5E6D70A3AEC1}" dt="2024-10-08T16:00:49.350" v="476" actId="1076"/>
          <ac:spMkLst>
            <pc:docMk/>
            <pc:sldMk cId="1709123913" sldId="267"/>
            <ac:spMk id="4" creationId="{B46EA530-EEA4-C5E7-2EC4-CB9124696528}"/>
          </ac:spMkLst>
        </pc:spChg>
        <pc:spChg chg="add mod">
          <ac:chgData name="Mustahsin Ul Aziz" userId="6f983c0f-6732-4868-b9e2-294f83e0d57b" providerId="ADAL" clId="{31E5B8B6-4A35-419C-8B18-5E6D70A3AEC1}" dt="2024-10-08T16:00:45.996" v="475" actId="14100"/>
          <ac:spMkLst>
            <pc:docMk/>
            <pc:sldMk cId="1709123913" sldId="267"/>
            <ac:spMk id="5" creationId="{30027DD1-9DEF-BB47-3535-C57B43F483CC}"/>
          </ac:spMkLst>
        </pc:spChg>
        <pc:spChg chg="add mod">
          <ac:chgData name="Mustahsin Ul Aziz" userId="6f983c0f-6732-4868-b9e2-294f83e0d57b" providerId="ADAL" clId="{31E5B8B6-4A35-419C-8B18-5E6D70A3AEC1}" dt="2024-10-08T16:01:26.924" v="493" actId="1076"/>
          <ac:spMkLst>
            <pc:docMk/>
            <pc:sldMk cId="1709123913" sldId="267"/>
            <ac:spMk id="6" creationId="{F3A9BF3A-D73A-643F-CBBB-1BC29177224C}"/>
          </ac:spMkLst>
        </pc:spChg>
        <pc:spChg chg="add mod">
          <ac:chgData name="Mustahsin Ul Aziz" userId="6f983c0f-6732-4868-b9e2-294f83e0d57b" providerId="ADAL" clId="{31E5B8B6-4A35-419C-8B18-5E6D70A3AEC1}" dt="2024-10-08T16:01:46.835" v="497" actId="20577"/>
          <ac:spMkLst>
            <pc:docMk/>
            <pc:sldMk cId="1709123913" sldId="267"/>
            <ac:spMk id="7" creationId="{1DE52E5A-BDA2-A481-F19F-FF35F9CDAC3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DA2D-A157-D384-166D-3E96F9B9E2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F571E2-2D25-4787-CE59-01D0414047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18BACE-2925-74FB-1843-8BB6FD13C3E2}"/>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5" name="Footer Placeholder 4">
            <a:extLst>
              <a:ext uri="{FF2B5EF4-FFF2-40B4-BE49-F238E27FC236}">
                <a16:creationId xmlns:a16="http://schemas.microsoft.com/office/drawing/2014/main" id="{2257105D-12EC-9A25-8592-3BF79B0DA0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CC117-6AFD-B76C-6A11-51C2D680B4C8}"/>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2645754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8A870-148F-ABEE-A547-5C82D350B9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0E02ED-454F-4F7F-C1C2-04F4E0748A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4517F1-A3D0-F2E4-ADC4-E6F4079D3068}"/>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5" name="Footer Placeholder 4">
            <a:extLst>
              <a:ext uri="{FF2B5EF4-FFF2-40B4-BE49-F238E27FC236}">
                <a16:creationId xmlns:a16="http://schemas.microsoft.com/office/drawing/2014/main" id="{0261A62E-E424-2630-F701-90106339CB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5CC2DA-5870-E2E7-C126-5B4272CD5CA7}"/>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1741722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389E2-A612-278B-8016-5E2CD06E15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78C360-C094-5A23-CB8A-FBBCC43238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F5D46A-2D3F-8A13-1ABD-D5A11F60395D}"/>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5" name="Footer Placeholder 4">
            <a:extLst>
              <a:ext uri="{FF2B5EF4-FFF2-40B4-BE49-F238E27FC236}">
                <a16:creationId xmlns:a16="http://schemas.microsoft.com/office/drawing/2014/main" id="{3EC903F9-1AED-4628-BCB4-1257CA3B92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29F65E-921F-94EA-0A9D-43C8F6C03903}"/>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2555633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22F80-0A8E-F265-5CE4-150FDEE7C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70E142-E7AE-4F05-1ECE-8C4E5D8F60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69F0CA-E31D-4C1A-96AF-BD5851ABE3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5DD143-0D6A-E954-4472-650D98163D93}"/>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6" name="Footer Placeholder 5">
            <a:extLst>
              <a:ext uri="{FF2B5EF4-FFF2-40B4-BE49-F238E27FC236}">
                <a16:creationId xmlns:a16="http://schemas.microsoft.com/office/drawing/2014/main" id="{2E7FF3FA-FAF2-E5DC-57E5-F849ADC42A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66BA91-1040-93DA-BBE7-6DAC2E707529}"/>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3108720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A062-451B-5253-6F5F-6C025276E0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149348-47CD-A1AE-31FA-66678044F7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0B9227-F9C5-A3F2-0FA6-B72395CFF0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24980F-1371-A935-6AB8-48BBD1CD58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82A094-3770-56BB-BEA8-54CA2221AC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4870B7-0BFF-6F0A-C071-B7F2796E64D0}"/>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8" name="Footer Placeholder 7">
            <a:extLst>
              <a:ext uri="{FF2B5EF4-FFF2-40B4-BE49-F238E27FC236}">
                <a16:creationId xmlns:a16="http://schemas.microsoft.com/office/drawing/2014/main" id="{2981E498-B651-9427-5E29-0231941642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E5DDA0-EE96-D069-BA43-5E9A35104DC5}"/>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377471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0EE3-E6AB-47D1-C7C0-350E5C7BF1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82CDCA-B00E-D03D-18AB-657509AC1968}"/>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4" name="Footer Placeholder 3">
            <a:extLst>
              <a:ext uri="{FF2B5EF4-FFF2-40B4-BE49-F238E27FC236}">
                <a16:creationId xmlns:a16="http://schemas.microsoft.com/office/drawing/2014/main" id="{8263BDB8-8F99-CF31-CEE6-1ECBA75EDB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D67023-2529-C813-E252-5A992ECF39FA}"/>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3123168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0B34C8-2053-5657-F8AD-FBCFA82EEBDF}"/>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3" name="Footer Placeholder 2">
            <a:extLst>
              <a:ext uri="{FF2B5EF4-FFF2-40B4-BE49-F238E27FC236}">
                <a16:creationId xmlns:a16="http://schemas.microsoft.com/office/drawing/2014/main" id="{D00298B6-4E98-3386-64EA-099CDC5BA9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340062-C700-BED8-D21C-A07FA432597F}"/>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1143798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19A92-C272-E813-F72E-F13906AE06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85BDF-0C9A-E147-32CA-EAFCB7A84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CA063D-0BCA-94FB-1B34-0753A39146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E97C1-80F7-BECA-BB0E-65CE0157E18E}"/>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6" name="Footer Placeholder 5">
            <a:extLst>
              <a:ext uri="{FF2B5EF4-FFF2-40B4-BE49-F238E27FC236}">
                <a16:creationId xmlns:a16="http://schemas.microsoft.com/office/drawing/2014/main" id="{0C0A15F2-952B-6CF9-170E-F2FCAEF6F8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A546F-1358-C507-9103-A9E583187C10}"/>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1544133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1E52-3E27-01DD-C915-331B6EDCB5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81EB6B-0609-07ED-5D15-F5DF03A68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04F0A0-BB4E-ACD4-9A88-F3D1B884F9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61D84F-EED3-303C-EC49-0B0B9033BB49}"/>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6" name="Footer Placeholder 5">
            <a:extLst>
              <a:ext uri="{FF2B5EF4-FFF2-40B4-BE49-F238E27FC236}">
                <a16:creationId xmlns:a16="http://schemas.microsoft.com/office/drawing/2014/main" id="{0CD69B54-94BC-0206-AE35-4648E8083B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F4602-AD9F-BAAE-F5FA-E96E7DE3CD10}"/>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639861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81B9C-F737-4041-8B57-43ABBA722F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08E85F-4138-7723-EFAE-54E12D8468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01B24D-7967-D5F4-C138-66FF4497937A}"/>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5" name="Footer Placeholder 4">
            <a:extLst>
              <a:ext uri="{FF2B5EF4-FFF2-40B4-BE49-F238E27FC236}">
                <a16:creationId xmlns:a16="http://schemas.microsoft.com/office/drawing/2014/main" id="{AC6CBB46-81B8-9694-F694-9B80942A86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2AB58-CB25-3354-1410-0219DCC34F46}"/>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2088188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9A0091-9FA8-7067-1D76-47C53617A1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6837D5-01B3-9DAA-CD7D-6601978EEC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07DF56-B3E8-9A04-E4C3-2DF1035BA8A9}"/>
              </a:ext>
            </a:extLst>
          </p:cNvPr>
          <p:cNvSpPr>
            <a:spLocks noGrp="1"/>
          </p:cNvSpPr>
          <p:nvPr>
            <p:ph type="dt" sz="half" idx="10"/>
          </p:nvPr>
        </p:nvSpPr>
        <p:spPr/>
        <p:txBody>
          <a:bodyPr/>
          <a:lstStyle/>
          <a:p>
            <a:fld id="{98372FE8-5DEB-4F4D-86ED-779EDEF679C0}" type="datetimeFigureOut">
              <a:rPr lang="en-US" smtClean="0"/>
              <a:t>10/8/2024</a:t>
            </a:fld>
            <a:endParaRPr lang="en-US"/>
          </a:p>
        </p:txBody>
      </p:sp>
      <p:sp>
        <p:nvSpPr>
          <p:cNvPr id="5" name="Footer Placeholder 4">
            <a:extLst>
              <a:ext uri="{FF2B5EF4-FFF2-40B4-BE49-F238E27FC236}">
                <a16:creationId xmlns:a16="http://schemas.microsoft.com/office/drawing/2014/main" id="{4395DE94-A6F7-1D68-FE33-CE21127DB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43C57-AB68-5961-6E68-8B291EB74072}"/>
              </a:ext>
            </a:extLst>
          </p:cNvPr>
          <p:cNvSpPr>
            <a:spLocks noGrp="1"/>
          </p:cNvSpPr>
          <p:nvPr>
            <p:ph type="sldNum" sz="quarter" idx="12"/>
          </p:nvPr>
        </p:nvSpPr>
        <p:spPr/>
        <p:txBody>
          <a:bodyPr/>
          <a:lstStyle/>
          <a:p>
            <a:fld id="{C06A5B48-994F-42F4-80A7-52950A16C3F3}" type="slidenum">
              <a:rPr lang="en-US" smtClean="0"/>
              <a:t>‹#›</a:t>
            </a:fld>
            <a:endParaRPr lang="en-US"/>
          </a:p>
        </p:txBody>
      </p:sp>
    </p:spTree>
    <p:extLst>
      <p:ext uri="{BB962C8B-B14F-4D97-AF65-F5344CB8AC3E}">
        <p14:creationId xmlns:p14="http://schemas.microsoft.com/office/powerpoint/2010/main" val="1012231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180A51-CEDF-6F01-F34A-E4F4FE73C2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65F1D7-E792-BA0A-A50C-5C71018E31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155E3E-EB7F-C414-1E02-72CA19B9DE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372FE8-5DEB-4F4D-86ED-779EDEF679C0}" type="datetimeFigureOut">
              <a:rPr lang="en-US" smtClean="0"/>
              <a:t>10/8/2024</a:t>
            </a:fld>
            <a:endParaRPr lang="en-US"/>
          </a:p>
        </p:txBody>
      </p:sp>
      <p:sp>
        <p:nvSpPr>
          <p:cNvPr id="5" name="Footer Placeholder 4">
            <a:extLst>
              <a:ext uri="{FF2B5EF4-FFF2-40B4-BE49-F238E27FC236}">
                <a16:creationId xmlns:a16="http://schemas.microsoft.com/office/drawing/2014/main" id="{D0E9EE82-A16C-D34B-C284-540897526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68C88D-7453-036E-3FD2-2310321853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6A5B48-994F-42F4-80A7-52950A16C3F3}" type="slidenum">
              <a:rPr lang="en-US" smtClean="0"/>
              <a:t>‹#›</a:t>
            </a:fld>
            <a:endParaRPr lang="en-US"/>
          </a:p>
        </p:txBody>
      </p:sp>
    </p:spTree>
    <p:extLst>
      <p:ext uri="{BB962C8B-B14F-4D97-AF65-F5344CB8AC3E}">
        <p14:creationId xmlns:p14="http://schemas.microsoft.com/office/powerpoint/2010/main" val="2008480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263AE-C493-EC09-4D58-D12C0B809F03}"/>
              </a:ext>
            </a:extLst>
          </p:cNvPr>
          <p:cNvSpPr>
            <a:spLocks noGrp="1"/>
          </p:cNvSpPr>
          <p:nvPr>
            <p:ph type="ctrTitle"/>
          </p:nvPr>
        </p:nvSpPr>
        <p:spPr/>
        <p:txBody>
          <a:bodyPr/>
          <a:lstStyle/>
          <a:p>
            <a:r>
              <a:rPr lang="en-US" dirty="0"/>
              <a:t>Class Project</a:t>
            </a:r>
          </a:p>
        </p:txBody>
      </p:sp>
      <p:sp>
        <p:nvSpPr>
          <p:cNvPr id="3" name="Subtitle 2">
            <a:extLst>
              <a:ext uri="{FF2B5EF4-FFF2-40B4-BE49-F238E27FC236}">
                <a16:creationId xmlns:a16="http://schemas.microsoft.com/office/drawing/2014/main" id="{487257B6-98EE-2667-7469-30A6363E8054}"/>
              </a:ext>
            </a:extLst>
          </p:cNvPr>
          <p:cNvSpPr>
            <a:spLocks noGrp="1"/>
          </p:cNvSpPr>
          <p:nvPr>
            <p:ph type="subTitle" idx="1"/>
          </p:nvPr>
        </p:nvSpPr>
        <p:spPr/>
        <p:txBody>
          <a:bodyPr>
            <a:normAutofit/>
          </a:bodyPr>
          <a:lstStyle/>
          <a:p>
            <a:r>
              <a:rPr lang="en-US" sz="4800" b="1" dirty="0"/>
              <a:t>(Optional)</a:t>
            </a:r>
          </a:p>
        </p:txBody>
      </p:sp>
    </p:spTree>
    <p:extLst>
      <p:ext uri="{BB962C8B-B14F-4D97-AF65-F5344CB8AC3E}">
        <p14:creationId xmlns:p14="http://schemas.microsoft.com/office/powerpoint/2010/main" val="5962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16C8B-F306-BE41-9E19-EDB0F30C2506}"/>
              </a:ext>
            </a:extLst>
          </p:cNvPr>
          <p:cNvSpPr>
            <a:spLocks noGrp="1"/>
          </p:cNvSpPr>
          <p:nvPr>
            <p:ph type="title"/>
          </p:nvPr>
        </p:nvSpPr>
        <p:spPr/>
        <p:txBody>
          <a:bodyPr/>
          <a:lstStyle/>
          <a:p>
            <a:r>
              <a:rPr lang="en-US" dirty="0"/>
              <a:t>Why?</a:t>
            </a:r>
          </a:p>
        </p:txBody>
      </p:sp>
      <p:sp>
        <p:nvSpPr>
          <p:cNvPr id="3" name="Content Placeholder 2">
            <a:extLst>
              <a:ext uri="{FF2B5EF4-FFF2-40B4-BE49-F238E27FC236}">
                <a16:creationId xmlns:a16="http://schemas.microsoft.com/office/drawing/2014/main" id="{CE63EA80-E82B-F0EB-8CDC-FAC42811B25E}"/>
              </a:ext>
            </a:extLst>
          </p:cNvPr>
          <p:cNvSpPr>
            <a:spLocks noGrp="1"/>
          </p:cNvSpPr>
          <p:nvPr>
            <p:ph idx="1"/>
          </p:nvPr>
        </p:nvSpPr>
        <p:spPr>
          <a:xfrm>
            <a:off x="838200" y="1825625"/>
            <a:ext cx="10515600" cy="1603375"/>
          </a:xfrm>
        </p:spPr>
        <p:txBody>
          <a:bodyPr/>
          <a:lstStyle/>
          <a:p>
            <a:r>
              <a:rPr lang="en-US" dirty="0"/>
              <a:t>This will count towards replacing your mid-term grade.</a:t>
            </a:r>
          </a:p>
          <a:p>
            <a:r>
              <a:rPr lang="en-US" dirty="0"/>
              <a:t>If you want to participate without touching your mid-term grade, you may be applicable for bonus points. </a:t>
            </a:r>
          </a:p>
        </p:txBody>
      </p:sp>
      <p:sp>
        <p:nvSpPr>
          <p:cNvPr id="4" name="Title 1">
            <a:extLst>
              <a:ext uri="{FF2B5EF4-FFF2-40B4-BE49-F238E27FC236}">
                <a16:creationId xmlns:a16="http://schemas.microsoft.com/office/drawing/2014/main" id="{229BD756-D34C-0469-641F-462E46175DBE}"/>
              </a:ext>
            </a:extLst>
          </p:cNvPr>
          <p:cNvSpPr txBox="1">
            <a:spLocks/>
          </p:cNvSpPr>
          <p:nvPr/>
        </p:nvSpPr>
        <p:spPr>
          <a:xfrm>
            <a:off x="838200" y="319711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When?</a:t>
            </a:r>
          </a:p>
        </p:txBody>
      </p:sp>
      <p:sp>
        <p:nvSpPr>
          <p:cNvPr id="5" name="Content Placeholder 2">
            <a:extLst>
              <a:ext uri="{FF2B5EF4-FFF2-40B4-BE49-F238E27FC236}">
                <a16:creationId xmlns:a16="http://schemas.microsoft.com/office/drawing/2014/main" id="{72042C81-EFD5-B216-5DAB-B471A2FFDBC5}"/>
              </a:ext>
            </a:extLst>
          </p:cNvPr>
          <p:cNvSpPr txBox="1">
            <a:spLocks/>
          </p:cNvSpPr>
          <p:nvPr/>
        </p:nvSpPr>
        <p:spPr>
          <a:xfrm>
            <a:off x="838200" y="4355465"/>
            <a:ext cx="10515600"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deadline is </a:t>
            </a:r>
            <a:r>
              <a:rPr lang="en-US" u="sng" dirty="0"/>
              <a:t>December 3, 2024</a:t>
            </a:r>
            <a:r>
              <a:rPr lang="en-US" dirty="0"/>
              <a:t> by </a:t>
            </a:r>
            <a:r>
              <a:rPr lang="en-US" u="sng" dirty="0"/>
              <a:t>11.59pm</a:t>
            </a:r>
          </a:p>
          <a:p>
            <a:r>
              <a:rPr lang="en-US" dirty="0"/>
              <a:t>You are expected to discuss with me your ideas so that we can work together to develop the project. </a:t>
            </a:r>
          </a:p>
        </p:txBody>
      </p:sp>
    </p:spTree>
    <p:extLst>
      <p:ext uri="{BB962C8B-B14F-4D97-AF65-F5344CB8AC3E}">
        <p14:creationId xmlns:p14="http://schemas.microsoft.com/office/powerpoint/2010/main" val="353338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16C8B-F306-BE41-9E19-EDB0F30C2506}"/>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CE63EA80-E82B-F0EB-8CDC-FAC42811B25E}"/>
              </a:ext>
            </a:extLst>
          </p:cNvPr>
          <p:cNvSpPr>
            <a:spLocks noGrp="1"/>
          </p:cNvSpPr>
          <p:nvPr>
            <p:ph idx="1"/>
          </p:nvPr>
        </p:nvSpPr>
        <p:spPr>
          <a:xfrm>
            <a:off x="838200" y="1825625"/>
            <a:ext cx="10515600" cy="4225318"/>
          </a:xfrm>
        </p:spPr>
        <p:txBody>
          <a:bodyPr>
            <a:normAutofit fontScale="85000" lnSpcReduction="20000"/>
          </a:bodyPr>
          <a:lstStyle/>
          <a:p>
            <a:pPr marL="0" indent="0" algn="just">
              <a:lnSpc>
                <a:spcPct val="150000"/>
              </a:lnSpc>
              <a:buNone/>
            </a:pPr>
            <a:r>
              <a:rPr lang="en-US" dirty="0"/>
              <a:t>Identify a real-world problem or phenomenon around you where microeconomic concepts such as demand, supply, elasticity, or market structure are at play. This can be something you’ve read in the news, observed in your community, or experienced personally. Your task is to analyze the situation using the microeconomic tools we've covered in class.</a:t>
            </a:r>
          </a:p>
          <a:p>
            <a:pPr marL="0" indent="0" algn="just">
              <a:lnSpc>
                <a:spcPct val="150000"/>
              </a:lnSpc>
              <a:buNone/>
            </a:pPr>
            <a:endParaRPr lang="en-US" dirty="0"/>
          </a:p>
          <a:p>
            <a:pPr marL="0" indent="0" algn="just">
              <a:lnSpc>
                <a:spcPct val="150000"/>
              </a:lnSpc>
              <a:buNone/>
            </a:pPr>
            <a:r>
              <a:rPr lang="en-US" dirty="0"/>
              <a:t>Your write-up should be around </a:t>
            </a:r>
            <a:r>
              <a:rPr lang="en-US" b="1" dirty="0"/>
              <a:t>5 pages </a:t>
            </a:r>
            <a:r>
              <a:rPr lang="en-US" dirty="0"/>
              <a:t>(without references), incorporating visual aids such as graphs and tables where applicable.</a:t>
            </a:r>
          </a:p>
        </p:txBody>
      </p:sp>
    </p:spTree>
    <p:extLst>
      <p:ext uri="{BB962C8B-B14F-4D97-AF65-F5344CB8AC3E}">
        <p14:creationId xmlns:p14="http://schemas.microsoft.com/office/powerpoint/2010/main" val="1192945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6B8B-75B7-DDCB-26F2-DC73EB075039}"/>
              </a:ext>
            </a:extLst>
          </p:cNvPr>
          <p:cNvSpPr>
            <a:spLocks noGrp="1"/>
          </p:cNvSpPr>
          <p:nvPr>
            <p:ph type="title"/>
          </p:nvPr>
        </p:nvSpPr>
        <p:spPr>
          <a:xfrm>
            <a:off x="838200" y="365126"/>
            <a:ext cx="10515600" cy="494126"/>
          </a:xfrm>
        </p:spPr>
        <p:txBody>
          <a:bodyPr>
            <a:normAutofit fontScale="90000"/>
          </a:bodyPr>
          <a:lstStyle/>
          <a:p>
            <a:r>
              <a:rPr lang="en-US" dirty="0"/>
              <a:t>Guiding Steps:</a:t>
            </a:r>
          </a:p>
        </p:txBody>
      </p:sp>
      <p:sp>
        <p:nvSpPr>
          <p:cNvPr id="4" name="Rectangle 1">
            <a:extLst>
              <a:ext uri="{FF2B5EF4-FFF2-40B4-BE49-F238E27FC236}">
                <a16:creationId xmlns:a16="http://schemas.microsoft.com/office/drawing/2014/main" id="{2A0E45E8-3CD4-EE27-8F45-26930DC02E3A}"/>
              </a:ext>
            </a:extLst>
          </p:cNvPr>
          <p:cNvSpPr>
            <a:spLocks noGrp="1" noChangeArrowheads="1"/>
          </p:cNvSpPr>
          <p:nvPr>
            <p:ph idx="1"/>
          </p:nvPr>
        </p:nvSpPr>
        <p:spPr bwMode="auto">
          <a:xfrm>
            <a:off x="409323" y="859251"/>
            <a:ext cx="10458282"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Describe the Problem</a:t>
            </a:r>
            <a:r>
              <a:rPr kumimoji="0" lang="en-US" altLang="en-US" sz="1800" b="0" i="0" u="none" strike="noStrike" cap="none" normalizeH="0" baseline="0" dirty="0">
                <a:ln>
                  <a:noFill/>
                </a:ln>
                <a:solidFill>
                  <a:schemeClr val="tx1"/>
                </a:solidFill>
                <a:effectLst/>
                <a:latin typeface="Arial" panose="020B0604020202020204" pitchFamily="34" charset="0"/>
              </a:rPr>
              <a:t>: Clearly state the issue or phenomenon you’ve chosen and explain why it is relevant.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Apply Microeconomic Concepts</a:t>
            </a:r>
            <a:r>
              <a:rPr kumimoji="0" lang="en-US" altLang="en-US" sz="1800" b="0" i="0" u="none" strike="noStrike" cap="none" normalizeH="0" baseline="0" dirty="0">
                <a:ln>
                  <a:noFill/>
                </a:ln>
                <a:solidFill>
                  <a:schemeClr val="tx1"/>
                </a:solidFill>
                <a:effectLst/>
                <a:latin typeface="Arial" panose="020B0604020202020204" pitchFamily="34" charset="0"/>
              </a:rPr>
              <a:t>: Use specific microeconomic tools (e.g., demand and supply analysis, elasticity, consumer and producer behavior, etc.) to understand what’s happening and why. Think about factors like shifts in demand or supply, price changes, or the impact of government interventions.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Identify the Stakeholders</a:t>
            </a:r>
            <a:r>
              <a:rPr kumimoji="0" lang="en-US" altLang="en-US" sz="1800" b="0" i="0" u="none" strike="noStrike" cap="none" normalizeH="0" baseline="0" dirty="0">
                <a:ln>
                  <a:noFill/>
                </a:ln>
                <a:solidFill>
                  <a:schemeClr val="tx1"/>
                </a:solidFill>
                <a:effectLst/>
                <a:latin typeface="Arial" panose="020B0604020202020204" pitchFamily="34" charset="0"/>
              </a:rPr>
              <a:t>: Who are the key players involved (e.g., consumers, producers, the government)? How are they affected by this problem?</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Present Your Analysis</a:t>
            </a:r>
            <a:r>
              <a:rPr kumimoji="0" lang="en-US" altLang="en-US" sz="1800" b="0" i="0" u="none" strike="noStrike" cap="none" normalizeH="0" baseline="0" dirty="0">
                <a:ln>
                  <a:noFill/>
                </a:ln>
                <a:solidFill>
                  <a:schemeClr val="tx1"/>
                </a:solidFill>
                <a:effectLst/>
                <a:latin typeface="Arial" panose="020B0604020202020204" pitchFamily="34" charset="0"/>
              </a:rPr>
              <a:t>: Provide a detailed analysis that explains the causes and possible consequences of the issue using graphs, equations, or any other tools we've discussed in class.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Propose Solutions or Insights</a:t>
            </a:r>
            <a:r>
              <a:rPr kumimoji="0" lang="en-US" altLang="en-US" sz="1800" b="0" i="0" u="none" strike="noStrike" cap="none" normalizeH="0" baseline="0" dirty="0">
                <a:ln>
                  <a:noFill/>
                </a:ln>
                <a:solidFill>
                  <a:schemeClr val="tx1"/>
                </a:solidFill>
                <a:effectLst/>
                <a:latin typeface="Arial" panose="020B0604020202020204" pitchFamily="34" charset="0"/>
              </a:rPr>
              <a:t>: Based on your analysis, suggest potential solutions or insights that could help address the problem or better understand it.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References</a:t>
            </a:r>
            <a:r>
              <a:rPr kumimoji="0" lang="en-US" altLang="en-US" sz="1800" b="0" i="0" u="none" strike="noStrike" cap="none" normalizeH="0" baseline="0" dirty="0">
                <a:ln>
                  <a:noFill/>
                </a:ln>
                <a:solidFill>
                  <a:schemeClr val="tx1"/>
                </a:solidFill>
                <a:effectLst/>
                <a:latin typeface="Arial" panose="020B0604020202020204" pitchFamily="34" charset="0"/>
              </a:rPr>
              <a:t>: Use real data, reports, or credible news sources to support your analysis.</a:t>
            </a:r>
          </a:p>
        </p:txBody>
      </p:sp>
    </p:spTree>
    <p:extLst>
      <p:ext uri="{BB962C8B-B14F-4D97-AF65-F5344CB8AC3E}">
        <p14:creationId xmlns:p14="http://schemas.microsoft.com/office/powerpoint/2010/main" val="62041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4D57-4BC8-0852-77E0-FEEA3B38A018}"/>
              </a:ext>
            </a:extLst>
          </p:cNvPr>
          <p:cNvSpPr>
            <a:spLocks noGrp="1"/>
          </p:cNvSpPr>
          <p:nvPr>
            <p:ph type="title"/>
          </p:nvPr>
        </p:nvSpPr>
        <p:spPr/>
        <p:txBody>
          <a:bodyPr/>
          <a:lstStyle/>
          <a:p>
            <a:r>
              <a:rPr lang="en-US" dirty="0"/>
              <a:t>Example Problem:</a:t>
            </a:r>
          </a:p>
        </p:txBody>
      </p:sp>
      <p:sp>
        <p:nvSpPr>
          <p:cNvPr id="3" name="Content Placeholder 2">
            <a:extLst>
              <a:ext uri="{FF2B5EF4-FFF2-40B4-BE49-F238E27FC236}">
                <a16:creationId xmlns:a16="http://schemas.microsoft.com/office/drawing/2014/main" id="{F403F9C0-00A4-6B59-B5B4-D19D68463D8F}"/>
              </a:ext>
            </a:extLst>
          </p:cNvPr>
          <p:cNvSpPr>
            <a:spLocks noGrp="1"/>
          </p:cNvSpPr>
          <p:nvPr>
            <p:ph idx="1"/>
          </p:nvPr>
        </p:nvSpPr>
        <p:spPr/>
        <p:txBody>
          <a:bodyPr/>
          <a:lstStyle/>
          <a:p>
            <a:pPr marL="0" indent="0">
              <a:buNone/>
            </a:pPr>
            <a:r>
              <a:rPr lang="en-US" dirty="0"/>
              <a:t>Analyzing a Market Shock: COVID-19 and Grocery Prices</a:t>
            </a:r>
          </a:p>
          <a:p>
            <a:pPr marL="0" indent="0">
              <a:buNone/>
            </a:pPr>
            <a:endParaRPr lang="en-US" dirty="0"/>
          </a:p>
          <a:p>
            <a:pPr marL="0" indent="0">
              <a:buNone/>
            </a:pPr>
            <a:r>
              <a:rPr lang="en-US" b="1" dirty="0"/>
              <a:t>Concepts: </a:t>
            </a:r>
            <a:r>
              <a:rPr lang="en-US" dirty="0"/>
              <a:t>Supply and demand shifts, price elasticity, equilibrium.</a:t>
            </a:r>
          </a:p>
          <a:p>
            <a:pPr marL="0" indent="0">
              <a:lnSpc>
                <a:spcPct val="150000"/>
              </a:lnSpc>
              <a:buNone/>
            </a:pPr>
            <a:r>
              <a:rPr lang="en-US" b="1" dirty="0"/>
              <a:t>Description: </a:t>
            </a:r>
            <a:r>
              <a:rPr lang="en-US" dirty="0"/>
              <a:t>Evaluate the impact of COVID-19 on grocery prices. What happened to the supply chain, and how did shifts in demand affect prices for essential goods? What were the effects on equilibrium and consumer behavior?</a:t>
            </a:r>
          </a:p>
        </p:txBody>
      </p:sp>
    </p:spTree>
    <p:extLst>
      <p:ext uri="{BB962C8B-B14F-4D97-AF65-F5344CB8AC3E}">
        <p14:creationId xmlns:p14="http://schemas.microsoft.com/office/powerpoint/2010/main" val="193294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8F2C-28E7-FEE4-B9E7-6B6068E41110}"/>
              </a:ext>
            </a:extLst>
          </p:cNvPr>
          <p:cNvSpPr>
            <a:spLocks noGrp="1"/>
          </p:cNvSpPr>
          <p:nvPr>
            <p:ph type="title"/>
          </p:nvPr>
        </p:nvSpPr>
        <p:spPr>
          <a:xfrm>
            <a:off x="838200" y="365126"/>
            <a:ext cx="10515600" cy="581080"/>
          </a:xfrm>
        </p:spPr>
        <p:txBody>
          <a:bodyPr>
            <a:normAutofit/>
          </a:bodyPr>
          <a:lstStyle/>
          <a:p>
            <a:r>
              <a:rPr lang="en-US" sz="2400" dirty="0"/>
              <a:t>Step 1: Identify and Describe the Problem or Phenomenon (What)</a:t>
            </a:r>
          </a:p>
        </p:txBody>
      </p:sp>
      <p:sp>
        <p:nvSpPr>
          <p:cNvPr id="3" name="Content Placeholder 2">
            <a:extLst>
              <a:ext uri="{FF2B5EF4-FFF2-40B4-BE49-F238E27FC236}">
                <a16:creationId xmlns:a16="http://schemas.microsoft.com/office/drawing/2014/main" id="{11E7E404-B28E-8570-ADFF-C223151446B4}"/>
              </a:ext>
            </a:extLst>
          </p:cNvPr>
          <p:cNvSpPr>
            <a:spLocks noGrp="1"/>
          </p:cNvSpPr>
          <p:nvPr>
            <p:ph idx="1"/>
          </p:nvPr>
        </p:nvSpPr>
        <p:spPr>
          <a:xfrm>
            <a:off x="286247" y="946205"/>
            <a:ext cx="11537343" cy="5653377"/>
          </a:xfrm>
        </p:spPr>
        <p:txBody>
          <a:bodyPr>
            <a:normAutofit fontScale="62500" lnSpcReduction="20000"/>
          </a:bodyPr>
          <a:lstStyle/>
          <a:p>
            <a:pPr marL="0" indent="0">
              <a:lnSpc>
                <a:spcPct val="170000"/>
              </a:lnSpc>
              <a:buNone/>
            </a:pPr>
            <a:r>
              <a:rPr lang="en-US" sz="2900" b="1" dirty="0"/>
              <a:t>Goal</a:t>
            </a:r>
            <a:r>
              <a:rPr lang="en-US" sz="2900" dirty="0"/>
              <a:t>: The first step is to find an issue, trend, or phenomenon in the real world that interests you and relates to microeconomics. This could be a local, national, or global issue affecting businesses, consumers, or markets.</a:t>
            </a:r>
          </a:p>
          <a:p>
            <a:endParaRPr lang="en-US" dirty="0"/>
          </a:p>
          <a:p>
            <a:pPr marL="0" indent="0">
              <a:buNone/>
            </a:pPr>
            <a:r>
              <a:rPr lang="en-US" sz="3300" b="1" dirty="0"/>
              <a:t>Guiding Questions</a:t>
            </a:r>
            <a:r>
              <a:rPr lang="en-US" sz="3300" dirty="0"/>
              <a:t>:</a:t>
            </a:r>
          </a:p>
          <a:p>
            <a:pPr>
              <a:buFont typeface="Arial" panose="020B0604020202020204" pitchFamily="34" charset="0"/>
              <a:buChar char="•"/>
            </a:pPr>
            <a:r>
              <a:rPr lang="en-US" sz="3300" dirty="0"/>
              <a:t>What is happening, and why is it significant?</a:t>
            </a:r>
          </a:p>
          <a:p>
            <a:pPr>
              <a:buFont typeface="Arial" panose="020B0604020202020204" pitchFamily="34" charset="0"/>
              <a:buChar char="•"/>
            </a:pPr>
            <a:r>
              <a:rPr lang="en-US" sz="3300" dirty="0"/>
              <a:t>How does it relate to economic behavior, decisions, or market outcomes?</a:t>
            </a:r>
          </a:p>
          <a:p>
            <a:pPr>
              <a:buFont typeface="Arial" panose="020B0604020202020204" pitchFamily="34" charset="0"/>
              <a:buChar char="•"/>
            </a:pPr>
            <a:r>
              <a:rPr lang="en-US" sz="3300" dirty="0"/>
              <a:t>Is it a current event, a long-standing issue, or a recent change in the market?</a:t>
            </a:r>
          </a:p>
          <a:p>
            <a:pPr marL="0" indent="0">
              <a:buNone/>
            </a:pPr>
            <a:endParaRPr lang="en-US" dirty="0"/>
          </a:p>
          <a:p>
            <a:pPr marL="0" indent="0">
              <a:buNone/>
            </a:pPr>
            <a:r>
              <a:rPr lang="en-US" sz="3300" b="1" dirty="0"/>
              <a:t>Suggestions</a:t>
            </a:r>
            <a:r>
              <a:rPr lang="en-US" sz="3300" dirty="0"/>
              <a:t>:</a:t>
            </a:r>
          </a:p>
          <a:p>
            <a:pPr>
              <a:buFont typeface="Arial" panose="020B0604020202020204" pitchFamily="34" charset="0"/>
              <a:buChar char="•"/>
            </a:pPr>
            <a:r>
              <a:rPr lang="en-US" sz="3300" dirty="0"/>
              <a:t>Browse recent news articles, economic reports, or industry studies.</a:t>
            </a:r>
          </a:p>
          <a:p>
            <a:pPr>
              <a:buFont typeface="Arial" panose="020B0604020202020204" pitchFamily="34" charset="0"/>
              <a:buChar char="•"/>
            </a:pPr>
            <a:r>
              <a:rPr lang="en-US" sz="3300" dirty="0"/>
              <a:t>Look for everyday observations (e.g., changes in grocery store prices, ticket pricing at a local event, or shifts in transportation choices).</a:t>
            </a:r>
          </a:p>
          <a:p>
            <a:pPr>
              <a:buFont typeface="Arial" panose="020B0604020202020204" pitchFamily="34" charset="0"/>
              <a:buChar char="•"/>
            </a:pPr>
            <a:r>
              <a:rPr lang="en-US" sz="3300" dirty="0"/>
              <a:t>If possible, choose an issue that directly affects you, your community, or a business sector you are interested in.</a:t>
            </a:r>
          </a:p>
          <a:p>
            <a:pPr marL="0" indent="0">
              <a:buNone/>
            </a:pPr>
            <a:endParaRPr lang="en-US" sz="3300" dirty="0"/>
          </a:p>
          <a:p>
            <a:pPr marL="0" indent="0">
              <a:buNone/>
            </a:pPr>
            <a:r>
              <a:rPr lang="en-US" sz="3300" dirty="0"/>
              <a:t>Example: What changed in the grocery effect. Were certain products more affected?</a:t>
            </a:r>
          </a:p>
          <a:p>
            <a:pPr marL="0" indent="0">
              <a:buNone/>
            </a:pPr>
            <a:endParaRPr lang="en-US" dirty="0"/>
          </a:p>
        </p:txBody>
      </p:sp>
    </p:spTree>
    <p:extLst>
      <p:ext uri="{BB962C8B-B14F-4D97-AF65-F5344CB8AC3E}">
        <p14:creationId xmlns:p14="http://schemas.microsoft.com/office/powerpoint/2010/main" val="2919933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8F2C-28E7-FEE4-B9E7-6B6068E41110}"/>
              </a:ext>
            </a:extLst>
          </p:cNvPr>
          <p:cNvSpPr>
            <a:spLocks noGrp="1"/>
          </p:cNvSpPr>
          <p:nvPr>
            <p:ph type="title"/>
          </p:nvPr>
        </p:nvSpPr>
        <p:spPr>
          <a:xfrm>
            <a:off x="838200" y="365126"/>
            <a:ext cx="10515600" cy="581080"/>
          </a:xfrm>
        </p:spPr>
        <p:txBody>
          <a:bodyPr>
            <a:normAutofit/>
          </a:bodyPr>
          <a:lstStyle/>
          <a:p>
            <a:r>
              <a:rPr lang="en-US" sz="2400" dirty="0"/>
              <a:t>Step 2: Apply Microeconomic Concepts (how)</a:t>
            </a:r>
          </a:p>
        </p:txBody>
      </p:sp>
      <p:sp>
        <p:nvSpPr>
          <p:cNvPr id="3" name="Content Placeholder 2">
            <a:extLst>
              <a:ext uri="{FF2B5EF4-FFF2-40B4-BE49-F238E27FC236}">
                <a16:creationId xmlns:a16="http://schemas.microsoft.com/office/drawing/2014/main" id="{11E7E404-B28E-8570-ADFF-C223151446B4}"/>
              </a:ext>
            </a:extLst>
          </p:cNvPr>
          <p:cNvSpPr>
            <a:spLocks noGrp="1"/>
          </p:cNvSpPr>
          <p:nvPr>
            <p:ph idx="1"/>
          </p:nvPr>
        </p:nvSpPr>
        <p:spPr>
          <a:xfrm>
            <a:off x="286247" y="946205"/>
            <a:ext cx="11537343" cy="5653377"/>
          </a:xfrm>
        </p:spPr>
        <p:txBody>
          <a:bodyPr>
            <a:normAutofit fontScale="77500" lnSpcReduction="20000"/>
          </a:bodyPr>
          <a:lstStyle/>
          <a:p>
            <a:pPr marL="0" indent="0">
              <a:lnSpc>
                <a:spcPct val="170000"/>
              </a:lnSpc>
              <a:buNone/>
            </a:pPr>
            <a:r>
              <a:rPr lang="en-US" sz="2900" b="1" dirty="0"/>
              <a:t>Goal</a:t>
            </a:r>
            <a:r>
              <a:rPr lang="en-US" sz="2900" dirty="0"/>
              <a:t>: Analyze the situation using at least two to three microeconomic tools we’ve covered in class. This is where you bring in theory to help explain what is happening.</a:t>
            </a:r>
            <a:endParaRPr lang="en-US" dirty="0"/>
          </a:p>
          <a:p>
            <a:pPr marL="0" indent="0">
              <a:buNone/>
            </a:pPr>
            <a:r>
              <a:rPr lang="en-US" sz="2300" b="1" dirty="0"/>
              <a:t>Guiding Questions</a:t>
            </a:r>
            <a:r>
              <a:rPr lang="en-US" sz="2300" dirty="0"/>
              <a:t>:</a:t>
            </a:r>
          </a:p>
          <a:p>
            <a:pPr>
              <a:buFont typeface="Arial" panose="020B0604020202020204" pitchFamily="34" charset="0"/>
              <a:buChar char="•"/>
            </a:pPr>
            <a:r>
              <a:rPr lang="en-US" sz="2600" u="sng" dirty="0"/>
              <a:t>Supply and Demand Analysis: </a:t>
            </a:r>
            <a:r>
              <a:rPr lang="en-US" sz="2600" dirty="0"/>
              <a:t>Are there shifts in supply or demand? What factors are causing these changes?</a:t>
            </a:r>
          </a:p>
          <a:p>
            <a:pPr>
              <a:buFont typeface="Arial" panose="020B0604020202020204" pitchFamily="34" charset="0"/>
              <a:buChar char="•"/>
            </a:pPr>
            <a:r>
              <a:rPr lang="en-US" sz="2600" u="sng" dirty="0"/>
              <a:t>Elasticity: </a:t>
            </a:r>
            <a:r>
              <a:rPr lang="en-US" sz="2600" dirty="0"/>
              <a:t>How sensitive are consumers or producers to price changes? Is demand elastic or inelastic?</a:t>
            </a:r>
          </a:p>
          <a:p>
            <a:pPr>
              <a:buFont typeface="Arial" panose="020B0604020202020204" pitchFamily="34" charset="0"/>
              <a:buChar char="•"/>
            </a:pPr>
            <a:r>
              <a:rPr lang="en-US" sz="2600" u="sng" dirty="0"/>
              <a:t>Consumer and Producer Surplus: </a:t>
            </a:r>
            <a:r>
              <a:rPr lang="en-US" sz="2600" dirty="0"/>
              <a:t>Are there gains or losses to specific groups?</a:t>
            </a:r>
          </a:p>
          <a:p>
            <a:pPr>
              <a:buFont typeface="Arial" panose="020B0604020202020204" pitchFamily="34" charset="0"/>
              <a:buChar char="•"/>
            </a:pPr>
            <a:r>
              <a:rPr lang="en-US" sz="2600" u="sng" dirty="0"/>
              <a:t>Market Structures: </a:t>
            </a:r>
            <a:r>
              <a:rPr lang="en-US" sz="2600" dirty="0"/>
              <a:t>Is the market competitive, monopolistic, or something else?</a:t>
            </a:r>
          </a:p>
          <a:p>
            <a:pPr>
              <a:buFont typeface="Arial" panose="020B0604020202020204" pitchFamily="34" charset="0"/>
              <a:buChar char="•"/>
            </a:pPr>
            <a:r>
              <a:rPr lang="en-US" sz="2600" u="sng" dirty="0"/>
              <a:t>Government Interventions: </a:t>
            </a:r>
            <a:r>
              <a:rPr lang="en-US" sz="2600" dirty="0"/>
              <a:t>Are there policies affecting the outcome, such as taxes, subsidies, or regulations?</a:t>
            </a:r>
          </a:p>
          <a:p>
            <a:pPr marL="0" indent="0">
              <a:buNone/>
            </a:pPr>
            <a:r>
              <a:rPr lang="en-US" sz="2600" b="1" dirty="0"/>
              <a:t>Suggestions</a:t>
            </a:r>
            <a:r>
              <a:rPr lang="en-US" sz="2600" dirty="0"/>
              <a:t>:</a:t>
            </a:r>
          </a:p>
          <a:p>
            <a:r>
              <a:rPr lang="en-US" sz="2600" dirty="0"/>
              <a:t>Use graphs, diagrams, or equations where applicable to illustrate your points.</a:t>
            </a:r>
          </a:p>
          <a:p>
            <a:r>
              <a:rPr lang="en-US" sz="2600" dirty="0"/>
              <a:t>Draw on real data or research to support your analysis.</a:t>
            </a:r>
          </a:p>
          <a:p>
            <a:pPr marL="0" indent="0">
              <a:buNone/>
            </a:pPr>
            <a:r>
              <a:rPr lang="en-US" sz="2600" b="1" dirty="0"/>
              <a:t>Example: </a:t>
            </a:r>
            <a:r>
              <a:rPr lang="en-US" sz="2600" dirty="0"/>
              <a:t>How was it affected? Demand/Supply or both? Necessary/luxury? How did government intervention work?</a:t>
            </a:r>
            <a:endParaRPr lang="en-US" dirty="0"/>
          </a:p>
        </p:txBody>
      </p:sp>
    </p:spTree>
    <p:extLst>
      <p:ext uri="{BB962C8B-B14F-4D97-AF65-F5344CB8AC3E}">
        <p14:creationId xmlns:p14="http://schemas.microsoft.com/office/powerpoint/2010/main" val="1328955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8F2C-28E7-FEE4-B9E7-6B6068E41110}"/>
              </a:ext>
            </a:extLst>
          </p:cNvPr>
          <p:cNvSpPr>
            <a:spLocks noGrp="1"/>
          </p:cNvSpPr>
          <p:nvPr>
            <p:ph type="title"/>
          </p:nvPr>
        </p:nvSpPr>
        <p:spPr>
          <a:xfrm>
            <a:off x="838200" y="365126"/>
            <a:ext cx="10515600" cy="581080"/>
          </a:xfrm>
        </p:spPr>
        <p:txBody>
          <a:bodyPr>
            <a:normAutofit/>
          </a:bodyPr>
          <a:lstStyle/>
          <a:p>
            <a:r>
              <a:rPr lang="en-US" sz="2400" dirty="0"/>
              <a:t>Step 3: Identify the Stakeholders and Their Roles (who)</a:t>
            </a:r>
          </a:p>
        </p:txBody>
      </p:sp>
      <p:sp>
        <p:nvSpPr>
          <p:cNvPr id="3" name="Content Placeholder 2">
            <a:extLst>
              <a:ext uri="{FF2B5EF4-FFF2-40B4-BE49-F238E27FC236}">
                <a16:creationId xmlns:a16="http://schemas.microsoft.com/office/drawing/2014/main" id="{11E7E404-B28E-8570-ADFF-C223151446B4}"/>
              </a:ext>
            </a:extLst>
          </p:cNvPr>
          <p:cNvSpPr>
            <a:spLocks noGrp="1"/>
          </p:cNvSpPr>
          <p:nvPr>
            <p:ph idx="1"/>
          </p:nvPr>
        </p:nvSpPr>
        <p:spPr>
          <a:xfrm>
            <a:off x="286247" y="946205"/>
            <a:ext cx="11537343" cy="5653377"/>
          </a:xfrm>
        </p:spPr>
        <p:txBody>
          <a:bodyPr>
            <a:normAutofit/>
          </a:bodyPr>
          <a:lstStyle/>
          <a:p>
            <a:pPr marL="0" indent="0">
              <a:lnSpc>
                <a:spcPct val="170000"/>
              </a:lnSpc>
              <a:buNone/>
            </a:pPr>
            <a:r>
              <a:rPr lang="en-US" sz="2900" b="1" dirty="0"/>
              <a:t>Goal</a:t>
            </a:r>
            <a:r>
              <a:rPr lang="en-US" sz="2900" dirty="0"/>
              <a:t>: Discuss who the main stakeholders are in this issue and how they are affected by it.</a:t>
            </a:r>
            <a:endParaRPr lang="en-US" dirty="0"/>
          </a:p>
          <a:p>
            <a:pPr marL="0" indent="0">
              <a:buNone/>
            </a:pPr>
            <a:r>
              <a:rPr lang="en-US" sz="2200" b="1" dirty="0"/>
              <a:t>Guiding Questions</a:t>
            </a:r>
            <a:r>
              <a:rPr lang="en-US" sz="2200" dirty="0"/>
              <a:t>:</a:t>
            </a:r>
          </a:p>
          <a:p>
            <a:pPr>
              <a:buFont typeface="Arial" panose="020B0604020202020204" pitchFamily="34" charset="0"/>
              <a:buChar char="•"/>
            </a:pPr>
            <a:r>
              <a:rPr lang="en-US" sz="2200" dirty="0"/>
              <a:t>Who are the key groups involved (e.g., consumers, businesses, government, special interest groups)?</a:t>
            </a:r>
          </a:p>
          <a:p>
            <a:pPr>
              <a:buFont typeface="Arial" panose="020B0604020202020204" pitchFamily="34" charset="0"/>
              <a:buChar char="•"/>
            </a:pPr>
            <a:r>
              <a:rPr lang="en-US" sz="2200" dirty="0"/>
              <a:t>What are their interests and incentives?</a:t>
            </a:r>
          </a:p>
          <a:p>
            <a:pPr>
              <a:buFont typeface="Arial" panose="020B0604020202020204" pitchFamily="34" charset="0"/>
              <a:buChar char="•"/>
            </a:pPr>
            <a:r>
              <a:rPr lang="en-US" sz="2200" dirty="0"/>
              <a:t>Are there winners and losers? If so, why?</a:t>
            </a:r>
            <a:endParaRPr lang="en-US" sz="1900" dirty="0"/>
          </a:p>
          <a:p>
            <a:pPr marL="0" indent="0">
              <a:buNone/>
            </a:pPr>
            <a:r>
              <a:rPr lang="en-US" sz="2200" b="1" dirty="0"/>
              <a:t>Suggestions</a:t>
            </a:r>
            <a:r>
              <a:rPr lang="en-US" sz="2200" dirty="0"/>
              <a:t>:</a:t>
            </a:r>
          </a:p>
          <a:p>
            <a:pPr>
              <a:buFont typeface="Arial" panose="020B0604020202020204" pitchFamily="34" charset="0"/>
              <a:buChar char="•"/>
            </a:pPr>
            <a:r>
              <a:rPr lang="en-US" sz="2200" dirty="0"/>
              <a:t>Provide a brief overview of how each stakeholder is influenced by the problem or trend.</a:t>
            </a:r>
          </a:p>
          <a:p>
            <a:pPr>
              <a:buFont typeface="Arial" panose="020B0604020202020204" pitchFamily="34" charset="0"/>
              <a:buChar char="•"/>
            </a:pPr>
            <a:r>
              <a:rPr lang="en-US" sz="2200" dirty="0"/>
              <a:t>Consider both short-term and long-term impacts on these groups.</a:t>
            </a:r>
          </a:p>
          <a:p>
            <a:pPr marL="0" indent="0">
              <a:buNone/>
            </a:pPr>
            <a:r>
              <a:rPr lang="en-US" sz="2200" b="1" dirty="0"/>
              <a:t>Example: </a:t>
            </a:r>
            <a:r>
              <a:rPr lang="en-US" sz="2200" dirty="0"/>
              <a:t>general people were affected, with low-income people suffering more. How did the grocery store respond? How did the government respond?</a:t>
            </a:r>
          </a:p>
          <a:p>
            <a:pPr marL="0" indent="0">
              <a:buNone/>
            </a:pPr>
            <a:endParaRPr lang="en-US" dirty="0"/>
          </a:p>
        </p:txBody>
      </p:sp>
    </p:spTree>
    <p:extLst>
      <p:ext uri="{BB962C8B-B14F-4D97-AF65-F5344CB8AC3E}">
        <p14:creationId xmlns:p14="http://schemas.microsoft.com/office/powerpoint/2010/main" val="3429600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8F2C-28E7-FEE4-B9E7-6B6068E41110}"/>
              </a:ext>
            </a:extLst>
          </p:cNvPr>
          <p:cNvSpPr>
            <a:spLocks noGrp="1"/>
          </p:cNvSpPr>
          <p:nvPr>
            <p:ph type="title"/>
          </p:nvPr>
        </p:nvSpPr>
        <p:spPr>
          <a:xfrm>
            <a:off x="838200" y="365126"/>
            <a:ext cx="10515600" cy="581080"/>
          </a:xfrm>
        </p:spPr>
        <p:txBody>
          <a:bodyPr>
            <a:normAutofit/>
          </a:bodyPr>
          <a:lstStyle/>
          <a:p>
            <a:r>
              <a:rPr lang="en-US" sz="2400" dirty="0"/>
              <a:t>Step 4: Present Your Analysis (This is where everything comes together)</a:t>
            </a:r>
          </a:p>
        </p:txBody>
      </p:sp>
      <p:sp>
        <p:nvSpPr>
          <p:cNvPr id="3" name="Content Placeholder 2">
            <a:extLst>
              <a:ext uri="{FF2B5EF4-FFF2-40B4-BE49-F238E27FC236}">
                <a16:creationId xmlns:a16="http://schemas.microsoft.com/office/drawing/2014/main" id="{11E7E404-B28E-8570-ADFF-C223151446B4}"/>
              </a:ext>
            </a:extLst>
          </p:cNvPr>
          <p:cNvSpPr>
            <a:spLocks noGrp="1"/>
          </p:cNvSpPr>
          <p:nvPr>
            <p:ph idx="1"/>
          </p:nvPr>
        </p:nvSpPr>
        <p:spPr>
          <a:xfrm>
            <a:off x="286247" y="946205"/>
            <a:ext cx="11537343" cy="5653377"/>
          </a:xfrm>
        </p:spPr>
        <p:txBody>
          <a:bodyPr>
            <a:normAutofit fontScale="92500"/>
          </a:bodyPr>
          <a:lstStyle/>
          <a:p>
            <a:pPr marL="0" indent="0">
              <a:lnSpc>
                <a:spcPct val="170000"/>
              </a:lnSpc>
              <a:buNone/>
            </a:pPr>
            <a:r>
              <a:rPr lang="en-US" sz="2000" b="1" dirty="0"/>
              <a:t>Goal</a:t>
            </a:r>
            <a:r>
              <a:rPr lang="en-US" sz="2000" dirty="0"/>
              <a:t>: Offer a detailed, organized analysis of the problem, incorporating the microeconomic tools and stakeholder perspectives.</a:t>
            </a:r>
          </a:p>
          <a:p>
            <a:pPr marL="0" indent="0">
              <a:lnSpc>
                <a:spcPct val="170000"/>
              </a:lnSpc>
              <a:buNone/>
            </a:pPr>
            <a:r>
              <a:rPr lang="en-US" sz="2200" b="1" dirty="0"/>
              <a:t>Guiding Questions</a:t>
            </a:r>
            <a:r>
              <a:rPr lang="en-US" sz="2200" dirty="0"/>
              <a:t>:</a:t>
            </a:r>
          </a:p>
          <a:p>
            <a:pPr>
              <a:buFont typeface="Arial" panose="020B0604020202020204" pitchFamily="34" charset="0"/>
              <a:buChar char="•"/>
            </a:pPr>
            <a:r>
              <a:rPr lang="en-US" sz="2200" dirty="0"/>
              <a:t>What does the microeconomic analysis reveal about the root cause and effects of the problem?</a:t>
            </a:r>
          </a:p>
          <a:p>
            <a:pPr>
              <a:buFont typeface="Arial" panose="020B0604020202020204" pitchFamily="34" charset="0"/>
              <a:buChar char="•"/>
            </a:pPr>
            <a:r>
              <a:rPr lang="en-US" sz="2200" dirty="0"/>
              <a:t>Are there unintended consequences? For example, does a policy intended to help one group unintentionally harm another?</a:t>
            </a:r>
          </a:p>
          <a:p>
            <a:pPr>
              <a:buFont typeface="Arial" panose="020B0604020202020204" pitchFamily="34" charset="0"/>
              <a:buChar char="•"/>
            </a:pPr>
            <a:r>
              <a:rPr lang="en-US" sz="2200" dirty="0"/>
              <a:t>How does your analysis fit with what we have discussed in class?</a:t>
            </a:r>
          </a:p>
          <a:p>
            <a:pPr marL="0" indent="0">
              <a:buNone/>
            </a:pPr>
            <a:r>
              <a:rPr lang="en-US" sz="2200" b="1" dirty="0"/>
              <a:t>Suggestions</a:t>
            </a:r>
            <a:r>
              <a:rPr lang="en-US" sz="2200" dirty="0"/>
              <a:t>:</a:t>
            </a:r>
          </a:p>
          <a:p>
            <a:pPr>
              <a:buFont typeface="Arial" panose="020B0604020202020204" pitchFamily="34" charset="0"/>
              <a:buChar char="•"/>
            </a:pPr>
            <a:r>
              <a:rPr lang="en-US" sz="2200" dirty="0"/>
              <a:t>Use visuals, such as supply and demand graphs, elasticity tables, or market diagrams, to strengthen your argument.</a:t>
            </a:r>
          </a:p>
          <a:p>
            <a:pPr>
              <a:buFont typeface="Arial" panose="020B0604020202020204" pitchFamily="34" charset="0"/>
              <a:buChar char="•"/>
            </a:pPr>
            <a:r>
              <a:rPr lang="en-US" sz="2200" dirty="0"/>
              <a:t>Keep your language clear and logical, linking each point to the economic theory or concept being applied.</a:t>
            </a:r>
          </a:p>
          <a:p>
            <a:pPr>
              <a:buFont typeface="Arial" panose="020B0604020202020204" pitchFamily="34" charset="0"/>
              <a:buChar char="•"/>
            </a:pPr>
            <a:r>
              <a:rPr lang="en-US" sz="2200" b="1" dirty="0"/>
              <a:t>Example: </a:t>
            </a:r>
            <a:r>
              <a:rPr lang="en-US" sz="2200" dirty="0"/>
              <a:t>How Covid led to closures. This shifted supply. There were increased demand for certain goods like masks and toilet papers. </a:t>
            </a:r>
          </a:p>
          <a:p>
            <a:pPr marL="0" indent="0">
              <a:buNone/>
            </a:pPr>
            <a:endParaRPr lang="en-US" dirty="0"/>
          </a:p>
        </p:txBody>
      </p:sp>
    </p:spTree>
    <p:extLst>
      <p:ext uri="{BB962C8B-B14F-4D97-AF65-F5344CB8AC3E}">
        <p14:creationId xmlns:p14="http://schemas.microsoft.com/office/powerpoint/2010/main" val="35281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8F2C-28E7-FEE4-B9E7-6B6068E41110}"/>
              </a:ext>
            </a:extLst>
          </p:cNvPr>
          <p:cNvSpPr>
            <a:spLocks noGrp="1"/>
          </p:cNvSpPr>
          <p:nvPr>
            <p:ph type="title"/>
          </p:nvPr>
        </p:nvSpPr>
        <p:spPr>
          <a:xfrm>
            <a:off x="838200" y="365126"/>
            <a:ext cx="10515600" cy="581080"/>
          </a:xfrm>
        </p:spPr>
        <p:txBody>
          <a:bodyPr>
            <a:normAutofit/>
          </a:bodyPr>
          <a:lstStyle/>
          <a:p>
            <a:r>
              <a:rPr lang="en-US" sz="2400" dirty="0"/>
              <a:t>Step 5: Propose Solutions or Offer Insights (Next Steps)</a:t>
            </a:r>
          </a:p>
        </p:txBody>
      </p:sp>
      <p:sp>
        <p:nvSpPr>
          <p:cNvPr id="3" name="Content Placeholder 2">
            <a:extLst>
              <a:ext uri="{FF2B5EF4-FFF2-40B4-BE49-F238E27FC236}">
                <a16:creationId xmlns:a16="http://schemas.microsoft.com/office/drawing/2014/main" id="{11E7E404-B28E-8570-ADFF-C223151446B4}"/>
              </a:ext>
            </a:extLst>
          </p:cNvPr>
          <p:cNvSpPr>
            <a:spLocks noGrp="1"/>
          </p:cNvSpPr>
          <p:nvPr>
            <p:ph idx="1"/>
          </p:nvPr>
        </p:nvSpPr>
        <p:spPr>
          <a:xfrm>
            <a:off x="286247" y="946205"/>
            <a:ext cx="11537343" cy="5653377"/>
          </a:xfrm>
        </p:spPr>
        <p:txBody>
          <a:bodyPr>
            <a:normAutofit/>
          </a:bodyPr>
          <a:lstStyle/>
          <a:p>
            <a:pPr marL="0" indent="0">
              <a:lnSpc>
                <a:spcPct val="170000"/>
              </a:lnSpc>
              <a:buNone/>
            </a:pPr>
            <a:r>
              <a:rPr lang="en-US" sz="2000" b="1" dirty="0"/>
              <a:t>Goal</a:t>
            </a:r>
            <a:r>
              <a:rPr lang="en-US" sz="2000" dirty="0"/>
              <a:t>: Suggest a solution to address the problem or offer insights that could help in understanding or mitigating it. This is a theoretical solution based on microeconomic concepts.</a:t>
            </a:r>
          </a:p>
          <a:p>
            <a:pPr marL="0" indent="0">
              <a:lnSpc>
                <a:spcPct val="170000"/>
              </a:lnSpc>
              <a:buNone/>
            </a:pPr>
            <a:r>
              <a:rPr lang="en-US" sz="2200" b="1" dirty="0"/>
              <a:t>Guiding Questions</a:t>
            </a:r>
            <a:r>
              <a:rPr lang="en-US" sz="2200" dirty="0"/>
              <a:t>:</a:t>
            </a:r>
          </a:p>
          <a:p>
            <a:pPr>
              <a:buFont typeface="Arial" panose="020B0604020202020204" pitchFamily="34" charset="0"/>
              <a:buChar char="•"/>
            </a:pPr>
            <a:r>
              <a:rPr lang="en-US" sz="2200" dirty="0"/>
              <a:t>What could be done to improve the situation?</a:t>
            </a:r>
          </a:p>
          <a:p>
            <a:pPr>
              <a:buFont typeface="Arial" panose="020B0604020202020204" pitchFamily="34" charset="0"/>
              <a:buChar char="•"/>
            </a:pPr>
            <a:r>
              <a:rPr lang="en-US" sz="2200" dirty="0"/>
              <a:t>Are there any policy interventions or market adjustments that might help?</a:t>
            </a:r>
          </a:p>
          <a:p>
            <a:pPr>
              <a:buFont typeface="Arial" panose="020B0604020202020204" pitchFamily="34" charset="0"/>
              <a:buChar char="•"/>
            </a:pPr>
            <a:r>
              <a:rPr lang="en-US" sz="2200" dirty="0"/>
              <a:t>If you were an economist advising a business or government, what would you recommend?</a:t>
            </a:r>
          </a:p>
          <a:p>
            <a:pPr marL="0" indent="0">
              <a:buNone/>
            </a:pPr>
            <a:r>
              <a:rPr lang="en-US" sz="2200" b="1" dirty="0"/>
              <a:t>Suggestions</a:t>
            </a:r>
            <a:r>
              <a:rPr lang="en-US" sz="2200" dirty="0"/>
              <a:t>:</a:t>
            </a:r>
          </a:p>
          <a:p>
            <a:pPr>
              <a:buFont typeface="Arial" panose="020B0604020202020204" pitchFamily="34" charset="0"/>
              <a:buChar char="•"/>
            </a:pPr>
            <a:r>
              <a:rPr lang="en-US" sz="2200" dirty="0"/>
              <a:t>Consider a range of possible solutions and discuss their feasibility.</a:t>
            </a:r>
          </a:p>
          <a:p>
            <a:pPr>
              <a:buFont typeface="Arial" panose="020B0604020202020204" pitchFamily="34" charset="0"/>
              <a:buChar char="•"/>
            </a:pPr>
            <a:r>
              <a:rPr lang="en-US" sz="2200" dirty="0"/>
              <a:t>Think about the economic trade-offs of each solution.</a:t>
            </a:r>
          </a:p>
          <a:p>
            <a:pPr>
              <a:buFont typeface="Arial" panose="020B0604020202020204" pitchFamily="34" charset="0"/>
              <a:buChar char="•"/>
            </a:pPr>
            <a:r>
              <a:rPr lang="en-US" sz="2200" dirty="0"/>
              <a:t>Explore what others are prescribing. </a:t>
            </a:r>
          </a:p>
          <a:p>
            <a:pPr marL="0" indent="0">
              <a:buNone/>
            </a:pPr>
            <a:r>
              <a:rPr lang="en-US" sz="2200" b="1" dirty="0"/>
              <a:t>Example: </a:t>
            </a:r>
            <a:r>
              <a:rPr lang="en-US" sz="2200" dirty="0"/>
              <a:t>going forward it will probably help to have an emergency policy which stockpiles necessity items for times of need.</a:t>
            </a:r>
            <a:r>
              <a:rPr lang="en-US" sz="2200" b="1" dirty="0"/>
              <a:t> </a:t>
            </a:r>
          </a:p>
          <a:p>
            <a:pPr marL="0" indent="0">
              <a:buNone/>
            </a:pPr>
            <a:endParaRPr lang="en-US" dirty="0"/>
          </a:p>
        </p:txBody>
      </p:sp>
    </p:spTree>
    <p:extLst>
      <p:ext uri="{BB962C8B-B14F-4D97-AF65-F5344CB8AC3E}">
        <p14:creationId xmlns:p14="http://schemas.microsoft.com/office/powerpoint/2010/main" val="1735920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8F2C-28E7-FEE4-B9E7-6B6068E41110}"/>
              </a:ext>
            </a:extLst>
          </p:cNvPr>
          <p:cNvSpPr>
            <a:spLocks noGrp="1"/>
          </p:cNvSpPr>
          <p:nvPr>
            <p:ph type="title"/>
          </p:nvPr>
        </p:nvSpPr>
        <p:spPr>
          <a:xfrm>
            <a:off x="838200" y="365126"/>
            <a:ext cx="10515600" cy="581080"/>
          </a:xfrm>
        </p:spPr>
        <p:txBody>
          <a:bodyPr>
            <a:normAutofit/>
          </a:bodyPr>
          <a:lstStyle/>
          <a:p>
            <a:r>
              <a:rPr lang="en-US" sz="2400" dirty="0"/>
              <a:t>Step 6: Reference Real Data and Sources (References)</a:t>
            </a:r>
          </a:p>
        </p:txBody>
      </p:sp>
      <p:sp>
        <p:nvSpPr>
          <p:cNvPr id="3" name="Content Placeholder 2">
            <a:extLst>
              <a:ext uri="{FF2B5EF4-FFF2-40B4-BE49-F238E27FC236}">
                <a16:creationId xmlns:a16="http://schemas.microsoft.com/office/drawing/2014/main" id="{11E7E404-B28E-8570-ADFF-C223151446B4}"/>
              </a:ext>
            </a:extLst>
          </p:cNvPr>
          <p:cNvSpPr>
            <a:spLocks noGrp="1"/>
          </p:cNvSpPr>
          <p:nvPr>
            <p:ph idx="1"/>
          </p:nvPr>
        </p:nvSpPr>
        <p:spPr>
          <a:xfrm>
            <a:off x="286247" y="946205"/>
            <a:ext cx="11537343" cy="5653377"/>
          </a:xfrm>
        </p:spPr>
        <p:txBody>
          <a:bodyPr>
            <a:normAutofit/>
          </a:bodyPr>
          <a:lstStyle/>
          <a:p>
            <a:pPr marL="0" indent="0">
              <a:lnSpc>
                <a:spcPct val="170000"/>
              </a:lnSpc>
              <a:buNone/>
            </a:pPr>
            <a:r>
              <a:rPr lang="en-US" sz="2000" b="1" dirty="0"/>
              <a:t>Goal</a:t>
            </a:r>
            <a:r>
              <a:rPr lang="en-US" sz="2000" dirty="0"/>
              <a:t>: Back up your arguments with real-world data and credible sources.</a:t>
            </a:r>
          </a:p>
          <a:p>
            <a:pPr marL="0" indent="0">
              <a:lnSpc>
                <a:spcPct val="170000"/>
              </a:lnSpc>
              <a:buNone/>
            </a:pPr>
            <a:r>
              <a:rPr lang="en-US" sz="2200" b="1" dirty="0"/>
              <a:t>Guiding Questions</a:t>
            </a:r>
            <a:r>
              <a:rPr lang="en-US" sz="2200" dirty="0"/>
              <a:t>:</a:t>
            </a:r>
          </a:p>
          <a:p>
            <a:pPr>
              <a:buFont typeface="Arial" panose="020B0604020202020204" pitchFamily="34" charset="0"/>
              <a:buChar char="•"/>
            </a:pPr>
            <a:r>
              <a:rPr lang="en-US" sz="2200" dirty="0"/>
              <a:t>Where can you find supporting information (e.g., government reports, academic papers, news articles)?</a:t>
            </a:r>
          </a:p>
          <a:p>
            <a:pPr>
              <a:buFont typeface="Arial" panose="020B0604020202020204" pitchFamily="34" charset="0"/>
              <a:buChar char="•"/>
            </a:pPr>
            <a:r>
              <a:rPr lang="en-US" sz="2200" dirty="0"/>
              <a:t>How can data be incorporated into your analysis to strengthen your arguments?</a:t>
            </a:r>
          </a:p>
          <a:p>
            <a:pPr>
              <a:buFont typeface="Arial" panose="020B0604020202020204" pitchFamily="34" charset="0"/>
              <a:buChar char="•"/>
            </a:pPr>
            <a:r>
              <a:rPr lang="en-US" sz="2200" dirty="0"/>
              <a:t>Can you include case studies or historical comparisons?</a:t>
            </a:r>
          </a:p>
          <a:p>
            <a:pPr marL="0" indent="0">
              <a:buNone/>
            </a:pPr>
            <a:r>
              <a:rPr lang="en-US" sz="2200" b="1" dirty="0"/>
              <a:t>Suggestions</a:t>
            </a:r>
            <a:r>
              <a:rPr lang="en-US" sz="2200" dirty="0"/>
              <a:t>:</a:t>
            </a:r>
          </a:p>
          <a:p>
            <a:pPr>
              <a:buFont typeface="Arial" panose="020B0604020202020204" pitchFamily="34" charset="0"/>
              <a:buChar char="•"/>
            </a:pPr>
            <a:r>
              <a:rPr lang="en-US" sz="2200" dirty="0"/>
              <a:t>Include tables, charts, or graphs that summarize key data points.</a:t>
            </a:r>
          </a:p>
          <a:p>
            <a:pPr>
              <a:buFont typeface="Arial" panose="020B0604020202020204" pitchFamily="34" charset="0"/>
              <a:buChar char="•"/>
            </a:pPr>
            <a:r>
              <a:rPr lang="en-US" sz="2200" dirty="0"/>
              <a:t>Cite all sources properly to maintain academic integrity.</a:t>
            </a:r>
          </a:p>
          <a:p>
            <a:pPr marL="0" indent="0">
              <a:buNone/>
            </a:pPr>
            <a:r>
              <a:rPr lang="en-US" sz="2200" b="1" dirty="0"/>
              <a:t>Example: </a:t>
            </a:r>
            <a:r>
              <a:rPr lang="en-US" sz="2200" dirty="0"/>
              <a:t>You can see how the price changed in the real world from January to June for masks, etc. You can also back your analysis (step4) using figures and numbers from different reputed news sources. </a:t>
            </a:r>
            <a:r>
              <a:rPr lang="en-US" sz="2200" b="1" dirty="0"/>
              <a:t> </a:t>
            </a:r>
          </a:p>
        </p:txBody>
      </p:sp>
    </p:spTree>
    <p:extLst>
      <p:ext uri="{BB962C8B-B14F-4D97-AF65-F5344CB8AC3E}">
        <p14:creationId xmlns:p14="http://schemas.microsoft.com/office/powerpoint/2010/main" val="1947992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4C10F-D6E4-D632-99F3-C214D4DE3769}"/>
              </a:ext>
            </a:extLst>
          </p:cNvPr>
          <p:cNvSpPr>
            <a:spLocks noGrp="1"/>
          </p:cNvSpPr>
          <p:nvPr>
            <p:ph type="title"/>
          </p:nvPr>
        </p:nvSpPr>
        <p:spPr/>
        <p:txBody>
          <a:bodyPr/>
          <a:lstStyle/>
          <a:p>
            <a:r>
              <a:rPr lang="en-US" dirty="0"/>
              <a:t>Possible Template:</a:t>
            </a:r>
          </a:p>
        </p:txBody>
      </p:sp>
      <p:sp>
        <p:nvSpPr>
          <p:cNvPr id="3" name="Content Placeholder 2">
            <a:extLst>
              <a:ext uri="{FF2B5EF4-FFF2-40B4-BE49-F238E27FC236}">
                <a16:creationId xmlns:a16="http://schemas.microsoft.com/office/drawing/2014/main" id="{FBD3693C-A911-F180-1D32-2AF0D7D73372}"/>
              </a:ext>
            </a:extLst>
          </p:cNvPr>
          <p:cNvSpPr>
            <a:spLocks noGrp="1"/>
          </p:cNvSpPr>
          <p:nvPr>
            <p:ph idx="1"/>
          </p:nvPr>
        </p:nvSpPr>
        <p:spPr>
          <a:xfrm>
            <a:off x="838200" y="1574358"/>
            <a:ext cx="10515600" cy="4602605"/>
          </a:xfrm>
        </p:spPr>
        <p:txBody>
          <a:bodyPr>
            <a:normAutofit lnSpcReduction="10000"/>
          </a:bodyPr>
          <a:lstStyle/>
          <a:p>
            <a:r>
              <a:rPr lang="en-US" dirty="0"/>
              <a:t>Introduction </a:t>
            </a:r>
          </a:p>
          <a:p>
            <a:r>
              <a:rPr lang="en-US" dirty="0"/>
              <a:t>Problem Identification</a:t>
            </a:r>
          </a:p>
          <a:p>
            <a:r>
              <a:rPr lang="en-US" dirty="0"/>
              <a:t>What do previous works say. (Can be research article or news article)</a:t>
            </a:r>
          </a:p>
          <a:p>
            <a:r>
              <a:rPr lang="en-US" dirty="0"/>
              <a:t>Establishing your claim.</a:t>
            </a:r>
          </a:p>
          <a:p>
            <a:r>
              <a:rPr lang="en-US" dirty="0"/>
              <a:t>Analyzing how your claim is based in microeconomics</a:t>
            </a:r>
          </a:p>
          <a:p>
            <a:r>
              <a:rPr lang="en-US" dirty="0"/>
              <a:t>Proposing a solution/insight, and showing how it can solve the problem using microeconomics. </a:t>
            </a:r>
          </a:p>
          <a:p>
            <a:r>
              <a:rPr lang="en-US" dirty="0"/>
              <a:t>Conclusion.</a:t>
            </a:r>
          </a:p>
          <a:p>
            <a:r>
              <a:rPr lang="en-US" dirty="0"/>
              <a:t>List of references.   </a:t>
            </a:r>
          </a:p>
        </p:txBody>
      </p:sp>
      <p:sp>
        <p:nvSpPr>
          <p:cNvPr id="4" name="Left Brace 3">
            <a:extLst>
              <a:ext uri="{FF2B5EF4-FFF2-40B4-BE49-F238E27FC236}">
                <a16:creationId xmlns:a16="http://schemas.microsoft.com/office/drawing/2014/main" id="{B46EA530-EEA4-C5E7-2EC4-CB9124696528}"/>
              </a:ext>
            </a:extLst>
          </p:cNvPr>
          <p:cNvSpPr/>
          <p:nvPr/>
        </p:nvSpPr>
        <p:spPr>
          <a:xfrm>
            <a:off x="754712" y="1574358"/>
            <a:ext cx="55659" cy="168567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Left Brace 4">
            <a:extLst>
              <a:ext uri="{FF2B5EF4-FFF2-40B4-BE49-F238E27FC236}">
                <a16:creationId xmlns:a16="http://schemas.microsoft.com/office/drawing/2014/main" id="{30027DD1-9DEF-BB47-3535-C57B43F483CC}"/>
              </a:ext>
            </a:extLst>
          </p:cNvPr>
          <p:cNvSpPr/>
          <p:nvPr/>
        </p:nvSpPr>
        <p:spPr>
          <a:xfrm>
            <a:off x="687787" y="3429000"/>
            <a:ext cx="150413" cy="208125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F3A9BF3A-D73A-643F-CBBB-1BC29177224C}"/>
              </a:ext>
            </a:extLst>
          </p:cNvPr>
          <p:cNvSpPr txBox="1"/>
          <p:nvPr/>
        </p:nvSpPr>
        <p:spPr>
          <a:xfrm rot="16200000">
            <a:off x="-10398" y="2116444"/>
            <a:ext cx="1105231" cy="369332"/>
          </a:xfrm>
          <a:prstGeom prst="rect">
            <a:avLst/>
          </a:prstGeom>
          <a:noFill/>
        </p:spPr>
        <p:txBody>
          <a:bodyPr wrap="square" rtlCol="0">
            <a:spAutoFit/>
          </a:bodyPr>
          <a:lstStyle/>
          <a:p>
            <a:r>
              <a:rPr lang="en-US" dirty="0"/>
              <a:t>2 pages</a:t>
            </a:r>
          </a:p>
        </p:txBody>
      </p:sp>
      <p:sp>
        <p:nvSpPr>
          <p:cNvPr id="7" name="TextBox 6">
            <a:extLst>
              <a:ext uri="{FF2B5EF4-FFF2-40B4-BE49-F238E27FC236}">
                <a16:creationId xmlns:a16="http://schemas.microsoft.com/office/drawing/2014/main" id="{1DE52E5A-BDA2-A481-F19F-FF35F9CDAC33}"/>
              </a:ext>
            </a:extLst>
          </p:cNvPr>
          <p:cNvSpPr txBox="1"/>
          <p:nvPr/>
        </p:nvSpPr>
        <p:spPr>
          <a:xfrm rot="16200000">
            <a:off x="-49752" y="4243610"/>
            <a:ext cx="1105231" cy="369332"/>
          </a:xfrm>
          <a:prstGeom prst="rect">
            <a:avLst/>
          </a:prstGeom>
          <a:noFill/>
        </p:spPr>
        <p:txBody>
          <a:bodyPr wrap="square" rtlCol="0">
            <a:spAutoFit/>
          </a:bodyPr>
          <a:lstStyle/>
          <a:p>
            <a:r>
              <a:rPr lang="en-US" dirty="0"/>
              <a:t>3 pages</a:t>
            </a:r>
          </a:p>
        </p:txBody>
      </p:sp>
    </p:spTree>
    <p:extLst>
      <p:ext uri="{BB962C8B-B14F-4D97-AF65-F5344CB8AC3E}">
        <p14:creationId xmlns:p14="http://schemas.microsoft.com/office/powerpoint/2010/main" val="1709123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1367</Words>
  <Application>Microsoft Office PowerPoint</Application>
  <PresentationFormat>Widescreen</PresentationFormat>
  <Paragraphs>102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Class Project</vt:lpstr>
      <vt:lpstr>Why?</vt:lpstr>
      <vt:lpstr>Prompt:</vt:lpstr>
      <vt:lpstr>Guiding Steps:</vt:lpstr>
      <vt:lpstr>Example Problem:</vt:lpstr>
      <vt:lpstr>Step 1: Identify and Describe the Problem or Phenomenon (What)</vt:lpstr>
      <vt:lpstr>Step 2: Apply Microeconomic Concepts (how)</vt:lpstr>
      <vt:lpstr>Step 3: Identify the Stakeholders and Their Roles (who)</vt:lpstr>
      <vt:lpstr>Step 4: Present Your Analysis (This is where everything comes together)</vt:lpstr>
      <vt:lpstr>Step 5: Propose Solutions or Offer Insights (Next Steps)</vt:lpstr>
      <vt:lpstr>Step 6: Reference Real Data and Sources (References)</vt:lpstr>
      <vt:lpstr>Possible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Mustahsin Ul Aziz</dc:creator>
  <cp:lastModifiedBy>Mustahsin Ul Aziz</cp:lastModifiedBy>
  <cp:revision>1</cp:revision>
  <dcterms:created xsi:type="dcterms:W3CDTF">2024-10-08T15:11:12Z</dcterms:created>
  <dcterms:modified xsi:type="dcterms:W3CDTF">2024-10-08T16:01:51Z</dcterms:modified>
</cp:coreProperties>
</file>